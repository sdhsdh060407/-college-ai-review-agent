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7" r:id="rId12"/>
    <p:sldId id="262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5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56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大家好，今天我将向大家介绍一个旨在解决大学生期末复习痛点的创新项目——“AI赋能的智能学习助手”。这个项目致力于通过先进的AI技术，为每一位同学打造一个个性化、高效率的复习解决方案，帮助大家轻松应对考试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在项目初期，我们深入调研发现，大学生在期末复习阶段普遍面临四大痛点：复习缺乏规划、抓不住重点、学习效率低下以及复习资源零散。这些问题严重影响了同学们的复习效果和备考心态。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针对这些痛点，我们认为AI是最佳的解决方案。通过构建一个智能学习助手，我们可以实现两大核心价值：一是提供个性化的学习路径，二是实现智能化的知识提炼。这不仅能解决学生们的实际困难，更能从根本上提升复习效率和效果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为了实现这个方案，我们选用了业界领先的AI工具。我们使用“扣子Coze”作为智能体的构建平台，它强大的工作流能力让我们能灵活地设计各种复习功能。同时，我们集成了“豆包”大模型作为AI大脑，确保了对话的流畅性和回答的准确性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在整个复习流程中，AI扮演了至关重要的角色。从智能制定复习计划，到自动提炼核心考点，再到7x24小时的智能问答，AI贯穿了复习的每一个环节。它就像一位私人辅导老师，帮助学生高效地完成复习任务。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终，我们的成果是一个简洁、高效的智能学习助手。使用方法非常简单，用户只需通过自然语言对话，就能获取所需的复习帮助。我们相信，这个工具将极大地改变同学们的复习方式，让学习变得更轻松、更高效。谢谢大家！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在整个复习流程中，AI扮演了至关重要的角色。从智能制定复习计划，到自动提炼核心考点，再到7x24小时的智能问答，AI贯穿了复习的每一个环节。它就像一位私人辅导老师，帮助学生高效地完成复习任务。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感谢大家的聆听！我们相信，这个AI智能学习助手将为同学们的复习带来革命性的改变。谢谢！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image" Target="../media/image4.png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2" Type="http://schemas.openxmlformats.org/officeDocument/2006/relationships/notesSlide" Target="../notesSlides/notesSlide5.x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7.png"/><Relationship Id="rId2" Type="http://schemas.openxmlformats.org/officeDocument/2006/relationships/tags" Target="../tags/tag27.xml"/><Relationship Id="rId19" Type="http://schemas.openxmlformats.org/officeDocument/2006/relationships/tags" Target="../tags/tag41.xml"/><Relationship Id="rId18" Type="http://schemas.openxmlformats.org/officeDocument/2006/relationships/tags" Target="../tags/tag40.xml"/><Relationship Id="rId17" Type="http://schemas.openxmlformats.org/officeDocument/2006/relationships/image" Target="../media/image6.png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image" Target="../media/image5.png"/><Relationship Id="rId10" Type="http://schemas.openxmlformats.org/officeDocument/2006/relationships/tags" Target="../tags/tag34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image" Target="../media/image4.png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13.xml"/><Relationship Id="rId20" Type="http://schemas.openxmlformats.org/officeDocument/2006/relationships/image" Target="../media/image7.png"/><Relationship Id="rId2" Type="http://schemas.openxmlformats.org/officeDocument/2006/relationships/tags" Target="../tags/tag42.xml"/><Relationship Id="rId19" Type="http://schemas.openxmlformats.org/officeDocument/2006/relationships/tags" Target="../tags/tag56.xml"/><Relationship Id="rId18" Type="http://schemas.openxmlformats.org/officeDocument/2006/relationships/tags" Target="../tags/tag55.xml"/><Relationship Id="rId17" Type="http://schemas.openxmlformats.org/officeDocument/2006/relationships/image" Target="../media/image6.png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image" Target="../media/image5.png"/><Relationship Id="rId10" Type="http://schemas.openxmlformats.org/officeDocument/2006/relationships/tags" Target="../tags/tag49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30000"/>
                </a:srgbClr>
              </a:gs>
              <a:gs pos="100000">
                <a:srgbClr val="000000">
                  <a:alpha val="75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AI赋能，高效复习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打造你的专属智能学习助手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651500"/>
            <a:ext cx="12192000" cy="952500"/>
          </a:xfrm>
          <a:prstGeom prst="roundRect">
            <a:avLst>
              <a:gd name="adj" fmla="val 0"/>
            </a:avLst>
          </a:prstGeom>
          <a:solidFill>
            <a:srgbClr val="0F1E2D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我们发现了什么真实问题？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大学生期末复习的四大痛点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667000"/>
            <a:ext cx="2667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667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889000" y="2921000"/>
            <a:ext cx="2413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复习无规划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889000" y="3683000"/>
            <a:ext cx="2413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面对多门课程的期末考核，多数学生不知道如何根据课程重点制定合理的复习计划，常常眉毛胡子一把抓。复习节奏混乱，重要内容遗漏，次要内容耗费过多精力，整体备考毫无条理，越复习越焦虑。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3556000" y="2667000"/>
            <a:ext cx="2667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3556000" y="2667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3683000" y="2921000"/>
            <a:ext cx="2413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重点不明确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3683000" y="3683000"/>
            <a:ext cx="2413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专业教材内容繁多且知识点零散，课堂节奏快导致学生难以实时捕捉老师划定的核心考点。复习时在非重点章节反复纠结，核心高频考点却一带而过，浪费大量宝贵的备考时间，复习的针对性和有效性严重不足。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6350000" y="2667000"/>
            <a:ext cx="2667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6350000" y="2667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6477000" y="2921000"/>
            <a:ext cx="2413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效率低下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6477000" y="3683000"/>
            <a:ext cx="2413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许多学生仍采用死记硬背的传统低效方式，找不到适合自身的学习节奏和记忆方法。投入大量时间精力背诵后，知识点理解浮于表面，很快遗忘，不仅学习效果差，还容易产生疲惫感，陷入“努力却无收获”的事倍功半困境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9144000" y="2667000"/>
            <a:ext cx="2667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9144000" y="2667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9271000" y="2921000"/>
            <a:ext cx="2413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资源零散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9271000" y="3683000"/>
            <a:ext cx="2413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习资料来源杂乱，课件、课堂笔记、历年真题、学长总结分散在不同平台和文件中，缺乏系统化的整合。学生需要花费额外时间筛选有效资料，信息获取效率极低，无法快速形成完整的知识体系，备考过程中常因资料缺失影响复习进度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/>
      </p:par>
    </p:tnLst>
    <p:bldLst>
      <p:bldP spid="3" grpId="0"/>
      <p:bldP spid="3" grpId="1"/>
      <p:bldP spid="4" grpId="0"/>
      <p:bldP spid="4" grpId="1"/>
      <p:bldP spid="6" grpId="0" animBg="1"/>
      <p:bldP spid="6" grpId="1" animBg="1"/>
      <p:bldP spid="2" grpId="0" animBg="1"/>
      <p:bldP spid="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我们为什么选择这个成果形式？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AI驱动的一站式复习解决方案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413000"/>
            <a:ext cx="5207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413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016000" y="2730500"/>
            <a:ext cx="4699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个性化学习路径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5"/>
            </p:custDataLst>
          </p:nvPr>
        </p:nvCxnSpPr>
        <p:spPr>
          <a:xfrm rot="-9291">
            <a:off x="1016009" y="348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016000" y="3683000"/>
            <a:ext cx="4699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AI的强大分析能力，我们可以为每位学生量身定制专属的复习计划，精准匹配个人的学习进度与知识薄弱环节。不再采用千篇一律的通用复习模式，而是根据学生的学习数据动态调整学习重点与内容顺序，让复习过程更具针对性。这一方式能有效解决学习计划与个人能力不匹配的问题，帮助学生用更短的时间补齐知识短板，稳步提升学习效果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6223000" y="2413000"/>
            <a:ext cx="5207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6223000" y="2413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6477000" y="2730500"/>
            <a:ext cx="4699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智能化知识提炼</a:t>
            </a:r>
            <a:endParaRPr lang="en-US" sz="1100"/>
          </a:p>
        </p:txBody>
      </p:sp>
      <p:cxnSp>
        <p:nvCxnSpPr>
          <p:cNvPr id="13" name="Connector 13"/>
          <p:cNvCxnSpPr/>
          <p:nvPr>
            <p:custDataLst>
              <p:tags r:id="rId10"/>
            </p:custDataLst>
          </p:nvPr>
        </p:nvCxnSpPr>
        <p:spPr>
          <a:xfrm rot="-9291">
            <a:off x="6477009" y="348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6477000" y="3683000"/>
            <a:ext cx="4699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先进的AI模型对海量教材、课件与学习资料进行快速阅读和深度语义理解，自动提炼出核心考点、关键知识框架与高频易错点。这一核心功能能够帮助学生快速梳理复杂的知识脉络，高效解决“复习重点不明确、知识体系混乱”的核心难题。让学生从繁琐的人工资料整理中彻底解放出来，将宝贵的学习精力更多投入到核心内容的巩固、难点的突破与深度消化上，大幅提升复习效率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/>
      </p:par>
    </p:tnLst>
    <p:bldLst>
      <p:bldP spid="3" grpId="0"/>
      <p:bldP spid="3" grpId="1"/>
      <p:bldP spid="2" grpId="0" animBg="1"/>
      <p:bldP spid="2" grpId="1" animBg="1"/>
      <p:bldP spid="5" grpId="0" animBg="1"/>
      <p:bldP spid="5" grpId="1" animBg="1"/>
      <p:bldP spid="7" grpId="0"/>
      <p:bldP spid="7" grpId="1"/>
      <p:bldP spid="9" grpId="0"/>
      <p:bldP spid="9" grpId="1"/>
      <p:bldP spid="12" grpId="0"/>
      <p:bldP spid="12" grpId="1"/>
      <p:bldP spid="14" grpId="0"/>
      <p:bldP spid="1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79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我们使用了哪些AI工具？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5143500"/>
            <a:ext cx="3302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为了打造高效的智能体系统，我们精选了业界领先的AI工具组合。这套工具矩阵包含智能体构建平台与核心大模型，为智能问答、任务处理提供了坚实的技术底座，助力实现高效、精准的新生服务。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5390708">
            <a:off x="2032000" y="3994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0" y="1651000"/>
            <a:ext cx="711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强大的AI工具矩阵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2000" y="2413000"/>
            <a:ext cx="7112000" cy="1968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572000" y="2413000"/>
            <a:ext cx="50800" cy="1968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762500" y="2540000"/>
            <a:ext cx="330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核心平台：扣子Coze智能体引擎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762500" y="2984500"/>
            <a:ext cx="33020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专业的智能体构建平台，Coze提供了灵活的工作流编排与丰富的插件生态。这让我们能够快速搭建智能对话逻辑，无需复杂开发即可实现任务的自动化流转，大幅缩短了智能体的上线周期，适应迎新工作的紧迫需求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72498">
            <a:off x="7397750" y="3390925"/>
            <a:ext cx="158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8318500" y="2540000"/>
            <a:ext cx="3238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核心大脑：豆包大模型能力支撑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318500" y="2984500"/>
            <a:ext cx="32385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豆包大模型作为智能体的核心AI大脑，依托其强大的自然语言理解与生成能力，智能体可精准捕捉新生的口语化提问意图。无论是复杂的校园政策咨询还是个性化的报到指引，都能输出高质量、符合语境的自然回答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4508500"/>
            <a:ext cx="2260600" cy="1841500"/>
          </a:xfrm>
          <a:prstGeom prst="roundRect">
            <a:avLst>
              <a:gd name="adj" fmla="val 0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572000" y="4610100"/>
            <a:ext cx="22606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极速搭建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5080000"/>
            <a:ext cx="20955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依托可视化工作流，智能体功能模块可快速配置，相比传统开发模式效率大幅提升，轻松应对迎新业务的快速迭代需求。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934200" y="4508500"/>
            <a:ext cx="2260600" cy="1841500"/>
          </a:xfrm>
          <a:prstGeom prst="roundRect">
            <a:avLst>
              <a:gd name="adj" fmla="val 0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934200" y="4610100"/>
            <a:ext cx="22606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精准交互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997700" y="5080000"/>
            <a:ext cx="20955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大模型深度语义理解打破了关键词匹配局限，让智能体像真人一样与新生自然对话，准确理解复杂的口语化问题，提供贴心的服务体验。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296400" y="4508500"/>
            <a:ext cx="2260600" cy="1841500"/>
          </a:xfrm>
          <a:prstGeom prst="roundRect">
            <a:avLst>
              <a:gd name="adj" fmla="val 0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296400" y="4610100"/>
            <a:ext cx="22606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灵活扩展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359900" y="5080000"/>
            <a:ext cx="20955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插件化架构支持后续无缝升级，随着服务场景的变化，可轻松添加新功能、接入新数据源，持续为新生提供更全面的智慧校园服务。</a:t>
            </a:r>
            <a:endParaRPr lang="en-US" sz="1100"/>
          </a:p>
        </p:txBody>
      </p:sp>
      <p:pic>
        <p:nvPicPr>
          <p:cNvPr id="23" name="图片 22" descr="file___media_Photo_2246_IMG_1780566963_2688_image_17805668636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665" y="1607820"/>
            <a:ext cx="3940810" cy="3088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AI帮助我们完成了哪些环节？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3429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952500" y="1841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524000" y="1841500"/>
            <a:ext cx="24765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智能计划制定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952500" y="2413000"/>
            <a:ext cx="3048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根据用户输入的课程名称和考试日期，AI自动生成详细的每日复习计划，合理分配各阶段学习任务，将整体备考目标拆解为可执行的每日行动，让复习节奏张弛有度。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381500" y="1651000"/>
            <a:ext cx="3429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3815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4572000" y="1841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5143500" y="1841500"/>
            <a:ext cx="24765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核心考点提炼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4572000" y="2413000"/>
            <a:ext cx="3048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上传课件或教材文档后，AI自动扫描分析文本内容，快速总结章节重点、知识难点和高频考点，省去人工逐页梳理资料的大量时间，让复习重点一目了然。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8001000" y="1651000"/>
            <a:ext cx="3429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8001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/>
          <a:stretch>
            <a:fillRect/>
          </a:stretch>
        </p:blipFill>
        <p:spPr>
          <a:xfrm>
            <a:off x="8191500" y="1841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>
            <p:custDataLst>
              <p:tags r:id="rId18"/>
            </p:custDataLst>
          </p:nvPr>
        </p:nvSpPr>
        <p:spPr>
          <a:xfrm>
            <a:off x="8763000" y="1841500"/>
            <a:ext cx="24765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24/7智能问答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9"/>
            </p:custDataLst>
          </p:nvPr>
        </p:nvSpPr>
        <p:spPr>
          <a:xfrm>
            <a:off x="8191500" y="2413000"/>
            <a:ext cx="3048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全天候在线响应，随时解答复习过程中遇到的各类疑问，提供知识点深度解释、经典例题详细分析，像私人辅导老师一样，及时为学习过程扫清知识障碍。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445000"/>
            <a:ext cx="10668000" cy="1778000"/>
          </a:xfrm>
          <a:prstGeom prst="roundRect">
            <a:avLst>
              <a:gd name="adj" fmla="val 0"/>
            </a:avLst>
          </a:prstGeom>
          <a:solidFill>
            <a:srgbClr val="2DD4BF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952500" y="46355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1651000" y="4635500"/>
            <a:ext cx="9271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9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核心价值：解放精力，专注高效学习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2500" y="5207000"/>
            <a:ext cx="10287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贯穿复习全流程，将学生从繁琐的资料整理、信息筛选和计划制定等机械性工作中彻底解放出来，让学生把宝贵的时间和精力集中在核心知识点的理解、消化与运用上。这种模式打破了传统复习的低效壁垒，帮助学生跳出低水平的重复劳动，从而实现更高效的自主学习与备考复习，大幅提升学习成果与应试表现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作品最终效果与如何使用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7060" y="1308100"/>
            <a:ext cx="5425440" cy="3293745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07060" y="1308100"/>
            <a:ext cx="5425440" cy="76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4826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41400" y="247650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41400" y="2857500"/>
            <a:ext cx="228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44900" y="2476500"/>
            <a:ext cx="2222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44900" y="2857500"/>
            <a:ext cx="22225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41400" y="3873500"/>
            <a:ext cx="4699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184900" y="1307465"/>
            <a:ext cx="5606415" cy="329438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184900" y="1270000"/>
            <a:ext cx="5606415" cy="76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350000" y="1841500"/>
            <a:ext cx="4826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5E5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清晰易懂的使用流程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2413000"/>
            <a:ext cx="2476500" cy="1270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38900" y="247650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5E5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四步操作指引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38900" y="2857500"/>
            <a:ext cx="228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打开应用后输入复习需求，按需上传资料，最后接收AI生成的计划、总结或问答结果，步骤清晰无门槛。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90000" y="2444750"/>
            <a:ext cx="2413000" cy="1270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978900" y="2476500"/>
            <a:ext cx="2222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5E5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场景灵活适配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978900" y="2857500"/>
            <a:ext cx="22225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无论是考前冲刺的整体规划，还是日常学习的细节问答，智能体都能根据用户输入动态调整，适配多样化学习场景。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3810000"/>
            <a:ext cx="4889500" cy="698500"/>
          </a:xfrm>
          <a:prstGeom prst="roundRect">
            <a:avLst>
              <a:gd name="adj" fmla="val 0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38900" y="3873500"/>
            <a:ext cx="4699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标准化的流程配合智能引导机制，让用户无需额外学习即可顺畅完成操作，即使是初次使用也能快速上手，将技术的复杂性隐藏在简单的步骤背后，专注于学习本身。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07060" y="4912360"/>
            <a:ext cx="11158855" cy="1587500"/>
          </a:xfrm>
          <a:prstGeom prst="roundRect">
            <a:avLst>
              <a:gd name="adj" fmla="val 0"/>
            </a:avLst>
          </a:prstGeom>
          <a:solidFill>
            <a:srgbClr val="0F4C46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1016000" y="49784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价值落地：重塑高效学习新体验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016000" y="5461000"/>
            <a:ext cx="10033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0F9F8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款智能学习助手通过极简的交互与清晰的流程，将复杂的AI能力转化为直观的服务。它不仅是一个响应迅速的工具，更是懂学习、懂需求的智能伙伴，帮助用户从繁琐的资料整理中解放出来，专注于核心知识的吸收与掌握。这种全新的学习辅助模式，让高效复习触手可及，为个性化自主学习提供了强有力的技术支撑。</a:t>
            </a:r>
            <a:endParaRPr lang="en-US" sz="1100"/>
          </a:p>
        </p:txBody>
      </p:sp>
      <p:pic>
        <p:nvPicPr>
          <p:cNvPr id="10" name="图片 9" descr="二维码图片_06月05日18时59分13秒_wwei_c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3400" y="1280160"/>
            <a:ext cx="1097915" cy="10979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60" y="1384300"/>
            <a:ext cx="5424805" cy="3248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AI帮助我们完成了哪些环节？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3429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952500" y="1841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524000" y="1841500"/>
            <a:ext cx="24765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智能计划制定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952500" y="2413000"/>
            <a:ext cx="3048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根据用户输入的课程名称和考试日期，AI自动生成详细的每日复习计划，合理分配各阶段学习任务，将整体备考目标拆解为可执行的每日行动，让复习节奏张弛有度。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381500" y="1651000"/>
            <a:ext cx="3429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3815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4572000" y="1841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5143500" y="1841500"/>
            <a:ext cx="24765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核心考点提炼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4572000" y="2413000"/>
            <a:ext cx="3048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上传课件或教材文档后，AI自动扫描分析文本内容，快速总结章节重点、知识难点和高频考点，省去人工逐页梳理资料的大量时间，让复习重点一目了然。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8001000" y="1651000"/>
            <a:ext cx="3429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8001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/>
          <a:stretch>
            <a:fillRect/>
          </a:stretch>
        </p:blipFill>
        <p:spPr>
          <a:xfrm>
            <a:off x="8191500" y="1841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>
            <p:custDataLst>
              <p:tags r:id="rId18"/>
            </p:custDataLst>
          </p:nvPr>
        </p:nvSpPr>
        <p:spPr>
          <a:xfrm>
            <a:off x="8763000" y="1841500"/>
            <a:ext cx="24765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24/7智能问答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9"/>
            </p:custDataLst>
          </p:nvPr>
        </p:nvSpPr>
        <p:spPr>
          <a:xfrm>
            <a:off x="8191500" y="2413000"/>
            <a:ext cx="3048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全天候在线响应，随时解答复习过程中遇到的各类疑问，提供知识点深度解释、经典例题详细分析，像私人辅导老师一样，及时为学习过程扫清知识障碍。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445000"/>
            <a:ext cx="10668000" cy="1778000"/>
          </a:xfrm>
          <a:prstGeom prst="roundRect">
            <a:avLst>
              <a:gd name="adj" fmla="val 0"/>
            </a:avLst>
          </a:prstGeom>
          <a:solidFill>
            <a:srgbClr val="2DD4BF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952500" y="46355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1651000" y="4635500"/>
            <a:ext cx="9271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9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核心价值：解放精力，专注高效学习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2500" y="5207000"/>
            <a:ext cx="10287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贯穿复习全流程，将学生从繁琐的资料整理、信息筛选和计划制定等机械性工作中彻底解放出来，让学生把宝贵的时间和精力集中在核心知识点的理解、消化与运用上。这种模式打破了传统复习的低效壁垒，帮助学生跳出低水平的重复劳动，从而实现更高效的自主学习与备考复习，大幅提升学习成果与应试表现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/>
              <a:t> </a:t>
            </a:r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</a:t>
            </a:r>
            <a:endParaRPr lang="en-US" sz="48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556000" y="4826000"/>
            <a:ext cx="50800" cy="1016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50,&quot;left&quot;:60,&quot;top&quot;:210,&quot;width&quot;:870}"/>
</p:tagLst>
</file>

<file path=ppt/tags/tag2.xml><?xml version="1.0" encoding="utf-8"?>
<p:tagLst xmlns:p="http://schemas.openxmlformats.org/presentationml/2006/main">
  <p:tag name="KSO_WM_DIAGRAM_VIRTUALLY_FRAME" val="{&quot;height&quot;:250,&quot;left&quot;:60,&quot;top&quot;:210,&quot;width&quot;:870}"/>
</p:tagLst>
</file>

<file path=ppt/tags/tag3.xml><?xml version="1.0" encoding="utf-8"?>
<p:tagLst xmlns:p="http://schemas.openxmlformats.org/presentationml/2006/main">
  <p:tag name="KSO_WM_DIAGRAM_VIRTUALLY_FRAME" val="{&quot;height&quot;:250,&quot;left&quot;:60,&quot;top&quot;:210,&quot;width&quot;:870}"/>
</p:tagLst>
</file>

<file path=ppt/tags/tag4.xml><?xml version="1.0" encoding="utf-8"?>
<p:tagLst xmlns:p="http://schemas.openxmlformats.org/presentationml/2006/main">
  <p:tag name="KSO_WM_DIAGRAM_VIRTUALLY_FRAME" val="{&quot;height&quot;:250,&quot;left&quot;:60,&quot;top&quot;:210,&quot;width&quot;:870}"/>
</p:tagLst>
</file>

<file path=ppt/tags/tag5.xml><?xml version="1.0" encoding="utf-8"?>
<p:tagLst xmlns:p="http://schemas.openxmlformats.org/presentationml/2006/main">
  <p:tag name="KSO_WM_DIAGRAM_VIRTUALLY_FRAME" val="{&quot;height&quot;:250,&quot;left&quot;:60,&quot;top&quot;:210,&quot;width&quot;:870}"/>
</p:tagLst>
</file>

<file path=ppt/tags/tag6.xml><?xml version="1.0" encoding="utf-8"?>
<p:tagLst xmlns:p="http://schemas.openxmlformats.org/presentationml/2006/main">
  <p:tag name="KSO_WM_DIAGRAM_VIRTUALLY_FRAME" val="{&quot;height&quot;:250,&quot;left&quot;:60,&quot;top&quot;:210,&quot;width&quot;:870}"/>
</p:tagLst>
</file>

<file path=ppt/tags/tag7.xml><?xml version="1.0" encoding="utf-8"?>
<p:tagLst xmlns:p="http://schemas.openxmlformats.org/presentationml/2006/main">
  <p:tag name="KSO_WM_DIAGRAM_VIRTUALLY_FRAME" val="{&quot;height&quot;:250,&quot;left&quot;:60,&quot;top&quot;:210,&quot;width&quot;:870}"/>
</p:tagLst>
</file>

<file path=ppt/tags/tag8.xml><?xml version="1.0" encoding="utf-8"?>
<p:tagLst xmlns:p="http://schemas.openxmlformats.org/presentationml/2006/main">
  <p:tag name="KSO_WM_DIAGRAM_VIRTUALLY_FRAME" val="{&quot;height&quot;:250,&quot;left&quot;:60,&quot;top&quot;:210,&quot;width&quot;:870}"/>
</p:tagLst>
</file>

<file path=ppt/tags/tag9.xml><?xml version="1.0" encoding="utf-8"?>
<p:tagLst xmlns:p="http://schemas.openxmlformats.org/presentationml/2006/main">
  <p:tag name="KSO_WM_DIAGRAM_VIRTUALLY_FRAME" val="{&quot;height&quot;:250,&quot;left&quot;:60,&quot;top&quot;:210,&quot;width&quot;:870}"/>
</p:tagLst>
</file>

<file path=ppt/tags/tag10.xml><?xml version="1.0" encoding="utf-8"?>
<p:tagLst xmlns:p="http://schemas.openxmlformats.org/presentationml/2006/main">
  <p:tag name="KSO_WM_DIAGRAM_VIRTUALLY_FRAME" val="{&quot;height&quot;:250,&quot;left&quot;:60,&quot;top&quot;:210,&quot;width&quot;:870}"/>
</p:tagLst>
</file>

<file path=ppt/tags/tag11.xml><?xml version="1.0" encoding="utf-8"?>
<p:tagLst xmlns:p="http://schemas.openxmlformats.org/presentationml/2006/main">
  <p:tag name="KSO_WM_DIAGRAM_VIRTUALLY_FRAME" val="{&quot;height&quot;:250,&quot;left&quot;:60,&quot;top&quot;:210,&quot;width&quot;:870}"/>
</p:tagLst>
</file>

<file path=ppt/tags/tag12.xml><?xml version="1.0" encoding="utf-8"?>
<p:tagLst xmlns:p="http://schemas.openxmlformats.org/presentationml/2006/main">
  <p:tag name="KSO_WM_DIAGRAM_VIRTUALLY_FRAME" val="{&quot;height&quot;:250,&quot;left&quot;:60,&quot;top&quot;:210,&quot;width&quot;:870}"/>
</p:tagLst>
</file>

<file path=ppt/tags/tag13.xml><?xml version="1.0" encoding="utf-8"?>
<p:tagLst xmlns:p="http://schemas.openxmlformats.org/presentationml/2006/main">
  <p:tag name="KSO_WM_DIAGRAM_VIRTUALLY_FRAME" val="{&quot;height&quot;:250,&quot;left&quot;:60,&quot;top&quot;:210,&quot;width&quot;:870}"/>
</p:tagLst>
</file>

<file path=ppt/tags/tag14.xml><?xml version="1.0" encoding="utf-8"?>
<p:tagLst xmlns:p="http://schemas.openxmlformats.org/presentationml/2006/main">
  <p:tag name="KSO_WM_DIAGRAM_VIRTUALLY_FRAME" val="{&quot;height&quot;:250,&quot;left&quot;:60,&quot;top&quot;:210,&quot;width&quot;:870}"/>
</p:tagLst>
</file>

<file path=ppt/tags/tag15.xml><?xml version="1.0" encoding="utf-8"?>
<p:tagLst xmlns:p="http://schemas.openxmlformats.org/presentationml/2006/main">
  <p:tag name="KSO_WM_DIAGRAM_VIRTUALLY_FRAME" val="{&quot;height&quot;:250,&quot;left&quot;:60,&quot;top&quot;:210,&quot;width&quot;:870}"/>
</p:tagLst>
</file>

<file path=ppt/tags/tag16.xml><?xml version="1.0" encoding="utf-8"?>
<p:tagLst xmlns:p="http://schemas.openxmlformats.org/presentationml/2006/main">
  <p:tag name="KSO_WM_DIAGRAM_VIRTUALLY_FRAME" val="{&quot;height&quot;:250,&quot;left&quot;:60,&quot;top&quot;:210,&quot;width&quot;:870}"/>
</p:tagLst>
</file>

<file path=ppt/tags/tag17.xml><?xml version="1.0" encoding="utf-8"?>
<p:tagLst xmlns:p="http://schemas.openxmlformats.org/presentationml/2006/main">
  <p:tag name="KSO_WM_DIAGRAM_VIRTUALLY_FRAME" val="{&quot;height&quot;:250,&quot;left&quot;:60,&quot;top&quot;:190,&quot;width&quot;:840}"/>
</p:tagLst>
</file>

<file path=ppt/tags/tag18.xml><?xml version="1.0" encoding="utf-8"?>
<p:tagLst xmlns:p="http://schemas.openxmlformats.org/presentationml/2006/main">
  <p:tag name="KSO_WM_DIAGRAM_VIRTUALLY_FRAME" val="{&quot;height&quot;:250,&quot;left&quot;:60,&quot;top&quot;:190,&quot;width&quot;:840}"/>
</p:tagLst>
</file>

<file path=ppt/tags/tag19.xml><?xml version="1.0" encoding="utf-8"?>
<p:tagLst xmlns:p="http://schemas.openxmlformats.org/presentationml/2006/main">
  <p:tag name="KSO_WM_DIAGRAM_VIRTUALLY_FRAME" val="{&quot;height&quot;:250,&quot;left&quot;:60,&quot;top&quot;:190,&quot;width&quot;:840}"/>
</p:tagLst>
</file>

<file path=ppt/tags/tag20.xml><?xml version="1.0" encoding="utf-8"?>
<p:tagLst xmlns:p="http://schemas.openxmlformats.org/presentationml/2006/main">
  <p:tag name="KSO_WM_DIAGRAM_VIRTUALLY_FRAME" val="{&quot;height&quot;:250,&quot;left&quot;:60,&quot;top&quot;:190,&quot;width&quot;:840}"/>
</p:tagLst>
</file>

<file path=ppt/tags/tag21.xml><?xml version="1.0" encoding="utf-8"?>
<p:tagLst xmlns:p="http://schemas.openxmlformats.org/presentationml/2006/main">
  <p:tag name="KSO_WM_DIAGRAM_VIRTUALLY_FRAME" val="{&quot;height&quot;:250,&quot;left&quot;:60,&quot;top&quot;:190,&quot;width&quot;:840}"/>
</p:tagLst>
</file>

<file path=ppt/tags/tag22.xml><?xml version="1.0" encoding="utf-8"?>
<p:tagLst xmlns:p="http://schemas.openxmlformats.org/presentationml/2006/main">
  <p:tag name="KSO_WM_DIAGRAM_VIRTUALLY_FRAME" val="{&quot;height&quot;:250,&quot;left&quot;:60,&quot;top&quot;:190,&quot;width&quot;:840}"/>
</p:tagLst>
</file>

<file path=ppt/tags/tag23.xml><?xml version="1.0" encoding="utf-8"?>
<p:tagLst xmlns:p="http://schemas.openxmlformats.org/presentationml/2006/main">
  <p:tag name="KSO_WM_DIAGRAM_VIRTUALLY_FRAME" val="{&quot;height&quot;:250,&quot;left&quot;:60,&quot;top&quot;:190,&quot;width&quot;:840}"/>
</p:tagLst>
</file>

<file path=ppt/tags/tag24.xml><?xml version="1.0" encoding="utf-8"?>
<p:tagLst xmlns:p="http://schemas.openxmlformats.org/presentationml/2006/main">
  <p:tag name="KSO_WM_DIAGRAM_VIRTUALLY_FRAME" val="{&quot;height&quot;:250,&quot;left&quot;:60,&quot;top&quot;:190,&quot;width&quot;:840}"/>
</p:tagLst>
</file>

<file path=ppt/tags/tag25.xml><?xml version="1.0" encoding="utf-8"?>
<p:tagLst xmlns:p="http://schemas.openxmlformats.org/presentationml/2006/main">
  <p:tag name="KSO_WM_DIAGRAM_VIRTUALLY_FRAME" val="{&quot;height&quot;:250,&quot;left&quot;:60,&quot;top&quot;:190,&quot;width&quot;:840}"/>
</p:tagLst>
</file>

<file path=ppt/tags/tag26.xml><?xml version="1.0" encoding="utf-8"?>
<p:tagLst xmlns:p="http://schemas.openxmlformats.org/presentationml/2006/main">
  <p:tag name="KSO_WM_DIAGRAM_VIRTUALLY_FRAME" val="{&quot;height&quot;:250,&quot;left&quot;:60,&quot;top&quot;:190,&quot;width&quot;:840}"/>
</p:tagLst>
</file>

<file path=ppt/tags/tag27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28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29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30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31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32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33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34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35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36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37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38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39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40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41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42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43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44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45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46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47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48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49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50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51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52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53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54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55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ags/tag56.xml><?xml version="1.0" encoding="utf-8"?>
<p:tagLst xmlns:p="http://schemas.openxmlformats.org/presentationml/2006/main">
  <p:tag name="KSO_WM_DIAGRAM_VIRTUALLY_FRAME" val="{&quot;height&quot;:200,&quot;left&quot;:60,&quot;top&quot;:13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2511</Words>
  <Application>WPS 演示</Application>
  <PresentationFormat/>
  <Paragraphs>123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Arial</vt:lpstr>
      <vt:lpstr>Noto Sans SC</vt:lpstr>
      <vt:lpstr>Songti SC</vt:lpstr>
      <vt:lpstr>Segoe Print</vt:lpstr>
      <vt:lpstr>微软雅黑</vt:lpstr>
      <vt:lpstr>Arial Unicode MS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꒦ິ^꒦ິ</cp:lastModifiedBy>
  <cp:revision>3</cp:revision>
  <dcterms:created xsi:type="dcterms:W3CDTF">2026-06-05T11:15:00Z</dcterms:created>
  <dcterms:modified xsi:type="dcterms:W3CDTF">2026-06-05T11:27:17Z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{"Label":"1","ContentProducer":"001191110102MACQD9K64010000","ProduceID":"7646058752382241985","ReservedCode1":"","ContentPropagator":"","PropagateID":"","ReservedCode2":""}</vt:lpwstr>
  </property>
  <property fmtid="{D5CDD505-2E9C-101B-9397-08002B2CF9AE}" pid="3" name="KSOProductBuildVer">
    <vt:lpwstr>2052-12.1.0.26375</vt:lpwstr>
  </property>
  <property fmtid="{D5CDD505-2E9C-101B-9397-08002B2CF9AE}" pid="4" name="ICV">
    <vt:lpwstr>10F117EC0A6249C5A2684E7394A2753C_12</vt:lpwstr>
  </property>
</Properties>
</file>